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6"/>
    <p:sldId id="258" r:id="rId4"/>
    <p:sldId id="264" r:id="rId10"/>
    <p:sldId id="259" r:id="rId5"/>
    <p:sldId id="261" r:id="rId7"/>
    <p:sldId id="262" r:id="rId8"/>
    <p:sldId id="267" r:id="rId18"/>
    <p:sldId id="268" r:id="rId19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oto_login.png"/><Relationship Id="rId4" Type="http://schemas.openxmlformats.org/officeDocument/2006/relationships/image" Target="../media/proto_dashboard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oto_usuarios.png"/><Relationship Id="rId4" Type="http://schemas.openxmlformats.org/officeDocument/2006/relationships/image" Target="../media/proto_libros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5943600" y="-457200"/>
            <a:ext cx="109728" cy="82296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6583680" y="-457200"/>
            <a:ext cx="45720" cy="82296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 |  DUOC UC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UNILIB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Calidad, Pruebas y Prototipado del Software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Bibliotecaria  ·  Caso Biblioteca Universitaria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109728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37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Almonacid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3429000"/>
            <a:ext cx="64008" cy="6400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3337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630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 Muñoz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97480" y="3721608"/>
            <a:ext cx="64008" cy="6400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Sistemas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922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Guidoberto Villarroel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97480" y="4014216"/>
            <a:ext cx="64008" cy="6400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3922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(QA)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Sección: [Sección]   |   Fecha: 2026   |   Docente: Mallén González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/ RESUMEN EJECUTIVO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8412480" cy="228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68680"/>
            <a:ext cx="5486400" cy="713232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868680"/>
            <a:ext cx="73152" cy="7132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905256"/>
            <a:ext cx="5266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 Experiencia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1143000"/>
            <a:ext cx="5266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calidad del sistema UNILIB, definir el plan de pruebas y presentar el prototipo de alta fidelidad que valida la solución antes de su construcción.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636776"/>
            <a:ext cx="5486400" cy="713232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636776"/>
            <a:ext cx="73152" cy="7132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673352"/>
            <a:ext cx="5266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calidad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" y="1911096"/>
            <a:ext cx="5266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una lista de verificación basada en las 10 Heurísticas de Nielsen y los criterios de usabilidad de la norma ISO/IEC 25010.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404872"/>
            <a:ext cx="5486400" cy="713232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404872"/>
            <a:ext cx="73152" cy="7132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441448"/>
            <a:ext cx="5266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" y="2679192"/>
            <a:ext cx="5266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definen casos de prueba (CP-001 a CP-005) administrados con Zephyr Essentials para Jira, validando las funcionalidades principales del sistema.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172968"/>
            <a:ext cx="5486400" cy="713232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172968"/>
            <a:ext cx="73152" cy="7132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3209544"/>
            <a:ext cx="5266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Prototipado de software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" y="3447288"/>
            <a:ext cx="5266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un prototipo de alta fidelidad en Figma que simula la navegación y el comportamiento esperado de las pantallas principales.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941064"/>
            <a:ext cx="5486400" cy="713232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941064"/>
            <a:ext cx="73152" cy="7132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3977640"/>
            <a:ext cx="5266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proyecto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" y="4215384"/>
            <a:ext cx="5266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entrega cierra el ciclo de análisis, diseño y validación, consolidando una base sólida para la futura implementación de UNILIB.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0760" y="868680"/>
            <a:ext cx="2743200" cy="384048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000" dirty="0"/>
          </a:p>
        </p:txBody>
      </p:sp>
      <p:sp>
        <p:nvSpPr>
          <p:cNvPr id="30" name="Text 28"/>
          <p:cNvSpPr/>
          <p:nvPr/>
        </p:nvSpPr>
        <p:spPr>
          <a:xfrm>
            <a:off x="6263640" y="16002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experiencia validamos la calidad y la experiencia de usuario antes de construir el sistema.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3200400"/>
            <a:ext cx="54864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310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AVM TECH · UNILIB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3611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Calidad, pruebas y prototipo como cierre del diseño de la solución.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3 · Calidad, pruebas y prototipado · AVM TECH · UNILIB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 CALIDAD · NIELSEN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8412480" cy="228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68680"/>
          <a:ext cx="41148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429000"/>
              </a:tblGrid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0C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0C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Heurística de Nielsen · Evaluación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Visibilidad del estado del sistema — Cumple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Relación con el mundo real — Cumple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y libertad del usuario — Cumple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Consistencia y estándares — Cumple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Prevención de errores — Cumple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868680"/>
          <a:ext cx="41148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429000"/>
              </a:tblGrid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0C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0C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Heurística de Nielsen · Evaluación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Reconocimiento antes que recuerdo — Cumple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Flexibilidad y eficiencia de uso — Parcial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estético y minimalista — Cumple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Ayudar a reconocer errores — Cumple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Ayuda y documentación — Parcial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11480" y="4434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8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totalmente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337560" y="4434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parcialmente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263640" y="4434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10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evaluadas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· OBJETIVO Y HERRAMIENTA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8412480" cy="228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68680"/>
            <a:ext cx="2788920" cy="169164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978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9784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requisitos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581912"/>
            <a:ext cx="457200" cy="228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459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que las funcionalidades cumplan los requisitos funcionales de usuarios, libros, préstamos, devoluciones y reportes.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868680"/>
            <a:ext cx="2788920" cy="169164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978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9784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0" y="12801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pruebas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457200" cy="228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459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Essentials para Jira administra y documenta los casos de prueba de las funcionalidades principales.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63640" y="868680"/>
            <a:ext cx="2788920" cy="169164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978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PT-001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63840" y="9784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general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0" y="12801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581912"/>
            <a:ext cx="457200" cy="228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6459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General de Prueba UNILIB que agrupa los escenarios de validación definidos para el proyecto.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714500" y="2743200"/>
            <a:ext cx="2788920" cy="169164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51660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EJ-001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4700" y="2852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5166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funcional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51660" y="3456432"/>
            <a:ext cx="457200" cy="228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51660" y="35204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Validación Funcional UNILIB que planifica y controla el avance de las pruebas.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40580" y="2743200"/>
            <a:ext cx="2788920" cy="169164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7740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40780" y="2852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7774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77740" y="3456432"/>
            <a:ext cx="457200" cy="228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7740" y="35204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casos de prueba (CP-001 a CP-005) cubren los procesos más relevantes del análisis de requisitos.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pruebas orientada a asegurar la calidad y el correcto funcionamiento de UNILIB antes de su implementación.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DE CALIDAD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8412480" cy="228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68680"/>
            <a:ext cx="8321040" cy="45720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68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basada en las Heurísticas de Nielsen y la norma ISO/IEC 25010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508760"/>
            <a:ext cx="4069080" cy="214884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508760"/>
            <a:ext cx="4069080" cy="4114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DE NIELSEN  ·  Usabilidad de la interfaz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" y="2093976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05740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principios heurísticos aplicados a las interfaces de UNILIB.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" y="2478024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47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44144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con indicador de cumplimiento por criterio.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" y="2862072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82549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errores de usabilidad y oportunidades de mejora.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508760"/>
            <a:ext cx="4069080" cy="214884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508760"/>
            <a:ext cx="4069080" cy="4114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5087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  ·  Calidad del producto software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28032" y="2093976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205740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 como característica fundamental de la calidad.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2478024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47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244144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para aprender, comprender y utilizar el sistema.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28032" y="2862072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282549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y adaptación a distintos dispositivos de acceso.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3794760"/>
            <a:ext cx="8321040" cy="96012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ESTOS ESTÁNDARES?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09651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Heurísticas de Nielsen y la norma ISO/IEC 25010 permiten evaluar de forma objetiva la facilidad de uso del sistema. Como UNILIB será utilizado por estudiantes, docentes, bibliotecarios, jefes de biblioteca y administradores, se prioriza una plataforma simple e intuitiva que reduzca errores y no requiera capacitación especializada.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8412480" cy="228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definidos en Zephyr para validar las funcionalidades principales de UNILIB: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4389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0C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0C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prueba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0C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usuario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usuario es registrado correctamente.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libro por título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sistema muestra los libros coincidentes.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préstamo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préstamo queda registrado y el libro cambia a estado prestado.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devolución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libro vuelve a estado disponible.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Generar reporte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sistema genera la información solicitada.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administrados en Zephyr Essentials para Jira · Plan PT-001 · Ejecución EJ-001.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PROTOTIPADO DE SOFTWARE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8412480" cy="228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68680"/>
            <a:ext cx="4069080" cy="384048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868680"/>
            <a:ext cx="4069080" cy="4114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686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ALTA FIDELIDAD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325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Figma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459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desarrolló un prototipo de alta fidelidad que simula la navegación y el comportamiento esperado de las principales funcionalidades del sistema antes de su implementación.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diseño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1097280" cy="182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099816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08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374136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82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visual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648456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57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de navegación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3922776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831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errores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4197096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105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la experiencia de usuario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868680"/>
            <a:ext cx="4069080" cy="384048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868680"/>
            <a:ext cx="4069080" cy="4114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8686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DESARROLLADAS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1325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principal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16459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se elaboró a partir del análisis y de los requisitos definidos, permitiendo validar la interacción de los usuarios con las funcionalidades clave del sistema.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6517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principales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898648"/>
            <a:ext cx="1097280" cy="182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2" name="Shape 32"/>
          <p:cNvSpPr/>
          <p:nvPr/>
        </p:nvSpPr>
        <p:spPr>
          <a:xfrm>
            <a:off x="4846320" y="3099816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3"/>
          <p:cNvSpPr/>
          <p:nvPr/>
        </p:nvSpPr>
        <p:spPr>
          <a:xfrm>
            <a:off x="5029200" y="3008376"/>
            <a:ext cx="35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</a:t>
            </a:r>
            <a:endParaRPr lang="es-CL" sz="1000" dirty="0"/>
          </a:p>
        </p:txBody>
      </p:sp>
      <p:sp>
        <p:nvSpPr>
          <p:cNvPr id="34" name="Shape 34"/>
          <p:cNvSpPr/>
          <p:nvPr/>
        </p:nvSpPr>
        <p:spPr>
          <a:xfrm>
            <a:off x="4846320" y="3374136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5"/>
          <p:cNvSpPr/>
          <p:nvPr/>
        </p:nvSpPr>
        <p:spPr>
          <a:xfrm>
            <a:off x="5029200" y="3282696"/>
            <a:ext cx="35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principal (Dashboard)</a:t>
            </a:r>
            <a:endParaRPr lang="es-CL" sz="1000" dirty="0"/>
          </a:p>
        </p:txBody>
      </p:sp>
      <p:sp>
        <p:nvSpPr>
          <p:cNvPr id="36" name="Shape 36"/>
          <p:cNvSpPr/>
          <p:nvPr/>
        </p:nvSpPr>
        <p:spPr>
          <a:xfrm>
            <a:off x="4846320" y="3648456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Text 37"/>
          <p:cNvSpPr/>
          <p:nvPr/>
        </p:nvSpPr>
        <p:spPr>
          <a:xfrm>
            <a:off x="5029200" y="3557016"/>
            <a:ext cx="35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</a:t>
            </a:r>
            <a:endParaRPr lang="es-CL" sz="1000" dirty="0"/>
          </a:p>
        </p:txBody>
      </p:sp>
      <p:sp>
        <p:nvSpPr>
          <p:cNvPr id="38" name="Shape 38"/>
          <p:cNvSpPr/>
          <p:nvPr/>
        </p:nvSpPr>
        <p:spPr>
          <a:xfrm>
            <a:off x="4846320" y="3922776"/>
            <a:ext cx="91440" cy="914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9" name="Text 39"/>
          <p:cNvSpPr/>
          <p:nvPr/>
        </p:nvSpPr>
        <p:spPr>
          <a:xfrm>
            <a:off x="5029200" y="3831336"/>
            <a:ext cx="35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libros</a:t>
            </a:r>
            <a:endParaRPr lang="es-CL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alta fidelidad desarrollado en Figma · Validación temprana de la experiencia de usuario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ARGUMENTACIÓN DE ESTÁNDARES DE CALIDAD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8412480" cy="228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412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Aspectos de usabilidad considerados para UNILIB según la norma ISO/IEC 25010.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2697480" cy="169164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188720"/>
            <a:ext cx="269748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25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y uso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691640"/>
            <a:ext cx="411480" cy="182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5564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para comprender y utilizar las funcionalidades del sistema.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587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Operabilidad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27832" y="1188720"/>
            <a:ext cx="2697480" cy="169164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27832" y="1188720"/>
            <a:ext cx="269748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325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clara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64992" y="1691640"/>
            <a:ext cx="411480" cy="182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75564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simple entre las distintas opciones y módulos del sistema.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64992" y="2587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Usabilidad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44184" y="1188720"/>
            <a:ext cx="2697480" cy="169164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4184" y="1188720"/>
            <a:ext cx="269748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1325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errores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81344" y="1691640"/>
            <a:ext cx="411480" cy="182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75564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y mensajes informativos que evitan errores de operación.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81344" y="2587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Protección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017520"/>
            <a:ext cx="2697480" cy="169164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017520"/>
            <a:ext cx="269748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154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visual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3520440"/>
            <a:ext cx="411480" cy="182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58444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Formularios, menús y pantallas con un diseño homogéneo y coherente.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44165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Estética de la interfaz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27832" y="3017520"/>
            <a:ext cx="2697480" cy="169164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27832" y="3017520"/>
            <a:ext cx="269748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3154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de aprendizaje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364992" y="3520440"/>
            <a:ext cx="411480" cy="182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358444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puede ser aprendido fácilmente por los usuarios nuevos.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64992" y="44165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Aprendizaje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44184" y="3017520"/>
            <a:ext cx="2697480" cy="169164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44184" y="3017520"/>
            <a:ext cx="269748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81344" y="3154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181344" y="3520440"/>
            <a:ext cx="411480" cy="182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358444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y acceso desde computadores, tablets y dispositivos móviles.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81344" y="44165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Multidispositivo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usabilidad alineados con la norma ISO/IEC 25010 para asegurar una experiencia de usuario adecuada.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8412480" cy="228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914400"/>
            <a:ext cx="4069080" cy="178308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1078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evaluada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3794760" cy="182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66420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de las Heurísticas de Nielsen y la norma ISO/IEC 25010 permitió verificar un adecuado nivel de usabilidad en las interfaces propuestas para UNILIB.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914400"/>
            <a:ext cx="4069080" cy="178308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2412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577840" y="1078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definido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572768"/>
            <a:ext cx="3794760" cy="182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66420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casos de prueba administrados en Zephyr establecen una estrategia de validación temprana para las funcionalidades principales del sistema.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834640"/>
            <a:ext cx="4069080" cy="178308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443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37160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alta fidelidad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3794760" cy="182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844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desarrollado en Figma representó visualmente el funcionamiento esperado del sistema y facilitó la validación de la experiencia de usuario.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834640"/>
            <a:ext cx="4069080" cy="1783080"/>
          </a:xfrm>
          <a:prstGeom prst="rect">
            <a:avLst/>
          </a:prstGeom>
          <a:solidFill>
            <a:srgbClr val="1214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9443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57784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 para implementar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3493008"/>
            <a:ext cx="3794760" cy="182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5844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artefactos generados consolidan una base coherente para la futura construcción de UNILIB, aplicando buenas prácticas de análisis, diseño y documentación.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70916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100" kern="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AVM TECH  ·  UNILIB  ·  Sistema de Gestión Bibliotecaria  ·  Ingeniería de Software  ·  DUOC UC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4" name="Title"/>
          <p:cNvSpPr/>
          <p:nvPr/>
        </p:nvSpPr>
        <p:spPr>
          <a:xfrm>
            <a:off x="365760" y="164592"/>
            <a:ext cx="84124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1800" b="1" dirty="0">
                <a:solidFill>
                  <a:srgbClr val="FFFFFF"/>
                </a:solidFill>
                <a:latin typeface="Calibri" pitchFamily="34" charset="0"/>
              </a:rPr>
              <a:t>PROTOTIPO · INICIO DE SESIÓN Y DASHBOARD</a:t>
            </a:r>
          </a:p>
        </p:txBody>
      </p:sp>
      <p:sp>
        <p:nvSpPr>
          <p:cNvPr id="5" name="Subtitle"/>
          <p:cNvSpPr/>
          <p:nvPr/>
        </p:nvSpPr>
        <p:spPr>
          <a:xfrm>
            <a:off x="365760" y="600000"/>
            <a:ext cx="84124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1000" i="1" dirty="0">
                <a:solidFill>
                  <a:srgbClr val="B0B8C1"/>
                </a:solidFill>
                <a:latin typeface="Calibri" pitchFamily="34" charset="0"/>
              </a:rPr>
              <a:t>Pantallas de alta fidelidad desarrolladas en Figma</a:t>
            </a:r>
          </a:p>
        </p:txBody>
      </p:sp>
      <p:sp>
        <p:nvSpPr>
          <p:cNvPr id="6" name="Line"/>
          <p:cNvSpPr/>
          <p:nvPr/>
        </p:nvSpPr>
        <p:spPr>
          <a:xfrm>
            <a:off x="365760" y="658368"/>
            <a:ext cx="8412480" cy="22860"/>
          </a:xfrm>
          <a:prstGeom prst="rect">
            <a:avLst/>
          </a:prstGeom>
          <a:solidFill>
            <a:srgbClr val="4CAF50"/>
          </a:solidFill>
        </p:spPr>
      </p:sp>
      <p:pic>
        <p:nvPicPr>
          <p:cNvPr id="7" name="ProtoLogin"/>
          <p:cNvPicPr/>
          <p:nvPr/>
        </p:nvPicPr>
        <p:blipFill>
          <a:blip r:embed="rId3"/>
          <a:stretch>
            <a:fillRect/>
          </a:stretch>
        </p:blipFill>
        <p:spPr>
          <a:xfrm>
            <a:off x="365760" y="1150000"/>
            <a:ext cx="4055760" cy="2709251"/>
          </a:xfrm>
          <a:prstGeom prst="rect">
            <a:avLst/>
          </a:prstGeom>
          <a:ln w="9525">
            <a:solidFill>
              <a:srgbClr val="2A2D34"/>
            </a:solidFill>
          </a:ln>
        </p:spPr>
      </p:pic>
      <p:pic>
        <p:nvPicPr>
          <p:cNvPr id="8" name="ProtoDashboard"/>
          <p:cNvPicPr/>
          <p:nvPr/>
        </p:nvPicPr>
        <p:blipFill>
          <a:blip r:embed="rId4"/>
          <a:stretch>
            <a:fillRect/>
          </a:stretch>
        </p:blipFill>
        <p:spPr>
          <a:xfrm>
            <a:off x="4721520" y="1175000"/>
            <a:ext cx="4055760" cy="2661260"/>
          </a:xfrm>
          <a:prstGeom prst="rect">
            <a:avLst/>
          </a:prstGeom>
          <a:ln w="9525">
            <a:solidFill>
              <a:srgbClr val="2A2D34"/>
            </a:solidFill>
          </a:ln>
        </p:spPr>
      </p:pic>
      <p:sp>
        <p:nvSpPr>
          <p:cNvPr id="9" name="CaptionLeft"/>
          <p:cNvSpPr/>
          <p:nvPr/>
        </p:nvSpPr>
        <p:spPr>
          <a:xfrm>
            <a:off x="365760" y="3960000"/>
            <a:ext cx="40557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100" b="1" dirty="0">
                <a:solidFill>
                  <a:srgbClr val="4CAF50"/>
                </a:solidFill>
                <a:latin typeface="Calibri" pitchFamily="34" charset="0"/>
              </a:rPr>
              <a:t>Inicio de sesión</a:t>
            </a:r>
          </a:p>
        </p:txBody>
      </p:sp>
      <p:sp>
        <p:nvSpPr>
          <p:cNvPr id="10" name="CaptionRight"/>
          <p:cNvSpPr/>
          <p:nvPr/>
        </p:nvSpPr>
        <p:spPr>
          <a:xfrm>
            <a:off x="4721520" y="3960000"/>
            <a:ext cx="40557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100" b="1" dirty="0">
                <a:solidFill>
                  <a:srgbClr val="4CAF50"/>
                </a:solidFill>
                <a:latin typeface="Calibri" pitchFamily="34" charset="0"/>
              </a:rPr>
              <a:t>Panel principal (Dashboard)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4" name="Title"/>
          <p:cNvSpPr/>
          <p:nvPr/>
        </p:nvSpPr>
        <p:spPr>
          <a:xfrm>
            <a:off x="365760" y="164592"/>
            <a:ext cx="84124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1800" b="1" dirty="0">
                <a:solidFill>
                  <a:srgbClr val="FFFFFF"/>
                </a:solidFill>
                <a:latin typeface="Calibri" pitchFamily="34" charset="0"/>
              </a:rPr>
              <a:t>PROTOTIPO · GESTIÓN DE USUARIOS Y LIBROS</a:t>
            </a:r>
          </a:p>
        </p:txBody>
      </p:sp>
      <p:sp>
        <p:nvSpPr>
          <p:cNvPr id="5" name="Subtitle"/>
          <p:cNvSpPr/>
          <p:nvPr/>
        </p:nvSpPr>
        <p:spPr>
          <a:xfrm>
            <a:off x="365760" y="600000"/>
            <a:ext cx="84124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CL" sz="1000" i="1" dirty="0">
                <a:solidFill>
                  <a:srgbClr val="B0B8C1"/>
                </a:solidFill>
                <a:latin typeface="Calibri" pitchFamily="34" charset="0"/>
              </a:rPr>
              <a:t>Administración del catálogo y de los usuarios del sistema</a:t>
            </a:r>
          </a:p>
        </p:txBody>
      </p:sp>
      <p:sp>
        <p:nvSpPr>
          <p:cNvPr id="6" name="Line"/>
          <p:cNvSpPr/>
          <p:nvPr/>
        </p:nvSpPr>
        <p:spPr>
          <a:xfrm>
            <a:off x="365760" y="658368"/>
            <a:ext cx="8412480" cy="22860"/>
          </a:xfrm>
          <a:prstGeom prst="rect">
            <a:avLst/>
          </a:prstGeom>
          <a:solidFill>
            <a:srgbClr val="4CAF50"/>
          </a:solidFill>
        </p:spPr>
      </p:sp>
      <p:pic>
        <p:nvPicPr>
          <p:cNvPr id="7" name="ProtoUsuarios"/>
          <p:cNvPicPr/>
          <p:nvPr/>
        </p:nvPicPr>
        <p:blipFill>
          <a:blip r:embed="rId3"/>
          <a:stretch>
            <a:fillRect/>
          </a:stretch>
        </p:blipFill>
        <p:spPr>
          <a:xfrm>
            <a:off x="365760" y="1120000"/>
            <a:ext cx="4055760" cy="2856169"/>
          </a:xfrm>
          <a:prstGeom prst="rect">
            <a:avLst/>
          </a:prstGeom>
          <a:ln w="9525">
            <a:solidFill>
              <a:srgbClr val="2A2D34"/>
            </a:solidFill>
          </a:ln>
        </p:spPr>
      </p:pic>
      <p:pic>
        <p:nvPicPr>
          <p:cNvPr id="8" name="ProtoLibros"/>
          <p:cNvPicPr/>
          <p:nvPr/>
        </p:nvPicPr>
        <p:blipFill>
          <a:blip r:embed="rId4"/>
          <a:stretch>
            <a:fillRect/>
          </a:stretch>
        </p:blipFill>
        <p:spPr>
          <a:xfrm>
            <a:off x="4721520" y="1449558"/>
            <a:ext cx="4055760" cy="2197052"/>
          </a:xfrm>
          <a:prstGeom prst="rect">
            <a:avLst/>
          </a:prstGeom>
          <a:ln w="9525">
            <a:solidFill>
              <a:srgbClr val="2A2D34"/>
            </a:solidFill>
          </a:ln>
        </p:spPr>
      </p:pic>
      <p:sp>
        <p:nvSpPr>
          <p:cNvPr id="9" name="CaptionLeft"/>
          <p:cNvSpPr/>
          <p:nvPr/>
        </p:nvSpPr>
        <p:spPr>
          <a:xfrm>
            <a:off x="365760" y="4070000"/>
            <a:ext cx="40557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100" b="1" dirty="0">
                <a:solidFill>
                  <a:srgbClr val="4CAF50"/>
                </a:solidFill>
                <a:latin typeface="Calibri" pitchFamily="34" charset="0"/>
              </a:rPr>
              <a:t>Gestión de usuarios</a:t>
            </a:r>
          </a:p>
        </p:txBody>
      </p:sp>
      <p:sp>
        <p:nvSpPr>
          <p:cNvPr id="10" name="CaptionRight"/>
          <p:cNvSpPr/>
          <p:nvPr/>
        </p:nvSpPr>
        <p:spPr>
          <a:xfrm>
            <a:off x="4721520" y="4070000"/>
            <a:ext cx="40557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sz="1100" b="1" dirty="0">
                <a:solidFill>
                  <a:srgbClr val="4CAF50"/>
                </a:solidFill>
                <a:latin typeface="Calibri" pitchFamily="34" charset="0"/>
              </a:rPr>
              <a:t>Gestión de libros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UNILIB - Experiencia 2</dc:title>
  <dc:subject>PptxGenJS Presentation</dc:subject>
  <dc:creator>AVM TECH</dc:creator>
  <cp:lastModifiedBy>AVM TECH</cp:lastModifiedBy>
  <cp:revision>1</cp:revision>
  <dcterms:created xsi:type="dcterms:W3CDTF">2026-05-27T17:17:57Z</dcterms:created>
  <dcterms:modified xsi:type="dcterms:W3CDTF">2026-05-27T17:17:57Z</dcterms:modified>
</cp:coreProperties>
</file>